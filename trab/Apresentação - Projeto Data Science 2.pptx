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Ultra-Bold" charset="1" panose="00000900000000000000"/>
      <p:regular r:id="rId19"/>
    </p:embeddedFont>
    <p:embeddedFont>
      <p:font typeface="Poppins" charset="1" panose="00000500000000000000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58981">
            <a:off x="9106168" y="3237614"/>
            <a:ext cx="16306265" cy="14497752"/>
          </a:xfrm>
          <a:custGeom>
            <a:avLst/>
            <a:gdLst/>
            <a:ahLst/>
            <a:cxnLst/>
            <a:rect r="r" b="b" t="t" l="l"/>
            <a:pathLst>
              <a:path h="14497752" w="16306265">
                <a:moveTo>
                  <a:pt x="0" y="0"/>
                </a:moveTo>
                <a:lnTo>
                  <a:pt x="16306264" y="0"/>
                </a:lnTo>
                <a:lnTo>
                  <a:pt x="16306264" y="14497751"/>
                </a:lnTo>
                <a:lnTo>
                  <a:pt x="0" y="1449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7809" y="7386772"/>
            <a:ext cx="6360319" cy="837276"/>
            <a:chOff x="0" y="0"/>
            <a:chExt cx="1675146" cy="2205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75146" cy="220517"/>
            </a:xfrm>
            <a:custGeom>
              <a:avLst/>
              <a:gdLst/>
              <a:ahLst/>
              <a:cxnLst/>
              <a:rect r="r" b="b" t="t" l="l"/>
              <a:pathLst>
                <a:path h="220517" w="1675146">
                  <a:moveTo>
                    <a:pt x="110259" y="0"/>
                  </a:moveTo>
                  <a:lnTo>
                    <a:pt x="1564887" y="0"/>
                  </a:lnTo>
                  <a:cubicBezTo>
                    <a:pt x="1594129" y="0"/>
                    <a:pt x="1622174" y="11616"/>
                    <a:pt x="1642852" y="32294"/>
                  </a:cubicBezTo>
                  <a:cubicBezTo>
                    <a:pt x="1663529" y="52971"/>
                    <a:pt x="1675146" y="81016"/>
                    <a:pt x="1675146" y="110259"/>
                  </a:cubicBezTo>
                  <a:lnTo>
                    <a:pt x="1675146" y="110259"/>
                  </a:lnTo>
                  <a:cubicBezTo>
                    <a:pt x="1675146" y="139501"/>
                    <a:pt x="1663529" y="167546"/>
                    <a:pt x="1642852" y="188223"/>
                  </a:cubicBezTo>
                  <a:cubicBezTo>
                    <a:pt x="1622174" y="208901"/>
                    <a:pt x="1594129" y="220517"/>
                    <a:pt x="1564887" y="220517"/>
                  </a:cubicBezTo>
                  <a:lnTo>
                    <a:pt x="110259" y="220517"/>
                  </a:lnTo>
                  <a:cubicBezTo>
                    <a:pt x="81016" y="220517"/>
                    <a:pt x="52971" y="208901"/>
                    <a:pt x="32294" y="188223"/>
                  </a:cubicBezTo>
                  <a:cubicBezTo>
                    <a:pt x="11616" y="167546"/>
                    <a:pt x="0" y="139501"/>
                    <a:pt x="0" y="110259"/>
                  </a:cubicBezTo>
                  <a:lnTo>
                    <a:pt x="0" y="110259"/>
                  </a:lnTo>
                  <a:cubicBezTo>
                    <a:pt x="0" y="81016"/>
                    <a:pt x="11616" y="52971"/>
                    <a:pt x="32294" y="32294"/>
                  </a:cubicBezTo>
                  <a:cubicBezTo>
                    <a:pt x="52971" y="11616"/>
                    <a:pt x="81016" y="0"/>
                    <a:pt x="110259" y="0"/>
                  </a:cubicBezTo>
                  <a:close/>
                </a:path>
              </a:pathLst>
            </a:custGeom>
            <a:solidFill>
              <a:srgbClr val="FFBF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675146" cy="287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740545" y="2762143"/>
            <a:ext cx="9449022" cy="7524857"/>
          </a:xfrm>
          <a:custGeom>
            <a:avLst/>
            <a:gdLst/>
            <a:ahLst/>
            <a:cxnLst/>
            <a:rect r="r" b="b" t="t" l="l"/>
            <a:pathLst>
              <a:path h="7524857" w="9449022">
                <a:moveTo>
                  <a:pt x="0" y="0"/>
                </a:moveTo>
                <a:lnTo>
                  <a:pt x="9449021" y="0"/>
                </a:lnTo>
                <a:lnTo>
                  <a:pt x="9449021" y="7524857"/>
                </a:lnTo>
                <a:lnTo>
                  <a:pt x="0" y="7524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07809" y="2584213"/>
            <a:ext cx="8479423" cy="459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6"/>
              </a:lnSpc>
            </a:pPr>
            <a:r>
              <a:rPr lang="en-US" b="true" sz="8776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PREVISÃO DE ABSENTEÍSMO NAS EMPRESAS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21998" y="7589193"/>
            <a:ext cx="21817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nardo Kenji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7829" y="7589193"/>
            <a:ext cx="170928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Julia Ayumi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4076" y="7589193"/>
            <a:ext cx="162778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Tiago Egri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32249" y="2059781"/>
            <a:ext cx="3336729" cy="4114800"/>
          </a:xfrm>
          <a:custGeom>
            <a:avLst/>
            <a:gdLst/>
            <a:ahLst/>
            <a:cxnLst/>
            <a:rect r="r" b="b" t="t" l="l"/>
            <a:pathLst>
              <a:path h="4114800" w="3336729">
                <a:moveTo>
                  <a:pt x="0" y="0"/>
                </a:moveTo>
                <a:lnTo>
                  <a:pt x="3336729" y="0"/>
                </a:lnTo>
                <a:lnTo>
                  <a:pt x="33367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18019"/>
            <a:ext cx="11890800" cy="358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44"/>
              </a:lnSpc>
            </a:pPr>
            <a:r>
              <a:rPr lang="en-US" sz="9044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 QUE É ABSENTEÍSMO?</a:t>
            </a:r>
          </a:p>
          <a:p>
            <a:pPr algn="l">
              <a:lnSpc>
                <a:spcPts val="904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367508" y="6365605"/>
            <a:ext cx="4551992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BF00"/>
                </a:solidFill>
                <a:latin typeface="Poppins Bold"/>
                <a:ea typeface="Poppins Bold"/>
                <a:cs typeface="Poppins Bold"/>
                <a:sym typeface="Poppins Bold"/>
              </a:rPr>
              <a:t>Possíveis causas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5288" y="3810415"/>
            <a:ext cx="7607350" cy="2150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4"/>
              </a:lnSpc>
            </a:pPr>
            <a:r>
              <a:rPr lang="en-US" sz="26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É a ausência dos funcionários no trabalho nos dias ou horários normais, incluindo atrasos, faltas e saídas.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28700" y="3577422"/>
            <a:ext cx="6254160" cy="0"/>
          </a:xfrm>
          <a:prstGeom prst="line">
            <a:avLst/>
          </a:prstGeom>
          <a:ln cap="flat" w="38100">
            <a:solidFill>
              <a:srgbClr val="FFBF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880270" y="6365605"/>
            <a:ext cx="4551992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BF00"/>
                </a:solidFill>
                <a:latin typeface="Poppins Bold"/>
                <a:ea typeface="Poppins Bold"/>
                <a:cs typeface="Poppins Bold"/>
                <a:sym typeface="Poppins Bold"/>
              </a:rPr>
              <a:t>Impactos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0270" y="6847161"/>
            <a:ext cx="7607350" cy="2150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5" indent="-291463" lvl="1">
              <a:lnSpc>
                <a:spcPts val="5804"/>
              </a:lnSpc>
              <a:buFont typeface="Arial"/>
              <a:buChar char="•"/>
            </a:pPr>
            <a:r>
              <a:rPr lang="en-US" sz="26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Produtividade</a:t>
            </a:r>
          </a:p>
          <a:p>
            <a:pPr algn="just" marL="582925" indent="-291463" lvl="1">
              <a:lnSpc>
                <a:spcPts val="5804"/>
              </a:lnSpc>
              <a:buFont typeface="Arial"/>
              <a:buChar char="•"/>
            </a:pPr>
            <a:r>
              <a:rPr lang="en-US" sz="26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Clima organizacional</a:t>
            </a:r>
          </a:p>
          <a:p>
            <a:pPr algn="just" marL="582925" indent="-291463" lvl="1">
              <a:lnSpc>
                <a:spcPts val="5804"/>
              </a:lnSpc>
              <a:buFont typeface="Arial"/>
              <a:buChar char="•"/>
            </a:pPr>
            <a:r>
              <a:rPr lang="en-US" sz="26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Custos operacionais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67508" y="6970760"/>
            <a:ext cx="7607350" cy="141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04"/>
              </a:lnSpc>
            </a:pPr>
            <a:r>
              <a:rPr lang="en-US" sz="26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Problemas de saúde, ambiente de trabalho tóxico, problemas pessoais entre outros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55557" y="2075790"/>
            <a:ext cx="6078608" cy="878571"/>
            <a:chOff x="0" y="0"/>
            <a:chExt cx="1715466" cy="247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5466" cy="247945"/>
            </a:xfrm>
            <a:custGeom>
              <a:avLst/>
              <a:gdLst/>
              <a:ahLst/>
              <a:cxnLst/>
              <a:rect r="r" b="b" t="t" l="l"/>
              <a:pathLst>
                <a:path h="247945" w="1715466">
                  <a:moveTo>
                    <a:pt x="123972" y="0"/>
                  </a:moveTo>
                  <a:lnTo>
                    <a:pt x="1591494" y="0"/>
                  </a:lnTo>
                  <a:cubicBezTo>
                    <a:pt x="1659962" y="0"/>
                    <a:pt x="1715466" y="55504"/>
                    <a:pt x="1715466" y="123972"/>
                  </a:cubicBezTo>
                  <a:lnTo>
                    <a:pt x="1715466" y="123972"/>
                  </a:lnTo>
                  <a:cubicBezTo>
                    <a:pt x="1715466" y="156852"/>
                    <a:pt x="1702405" y="188385"/>
                    <a:pt x="1679156" y="211634"/>
                  </a:cubicBezTo>
                  <a:cubicBezTo>
                    <a:pt x="1655906" y="234883"/>
                    <a:pt x="1624374" y="247945"/>
                    <a:pt x="1591494" y="247945"/>
                  </a:cubicBezTo>
                  <a:lnTo>
                    <a:pt x="123972" y="247945"/>
                  </a:lnTo>
                  <a:cubicBezTo>
                    <a:pt x="91093" y="247945"/>
                    <a:pt x="59560" y="234883"/>
                    <a:pt x="36311" y="211634"/>
                  </a:cubicBezTo>
                  <a:cubicBezTo>
                    <a:pt x="13061" y="188385"/>
                    <a:pt x="0" y="156852"/>
                    <a:pt x="0" y="123972"/>
                  </a:cubicBezTo>
                  <a:lnTo>
                    <a:pt x="0" y="123972"/>
                  </a:lnTo>
                  <a:cubicBezTo>
                    <a:pt x="0" y="91093"/>
                    <a:pt x="13061" y="59560"/>
                    <a:pt x="36311" y="36311"/>
                  </a:cubicBezTo>
                  <a:cubicBezTo>
                    <a:pt x="59560" y="13061"/>
                    <a:pt x="91093" y="0"/>
                    <a:pt x="1239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>
                  <a:alpha val="16863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715466" cy="314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55557" y="4208068"/>
            <a:ext cx="6078608" cy="878571"/>
            <a:chOff x="0" y="0"/>
            <a:chExt cx="1715466" cy="2479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5466" cy="247945"/>
            </a:xfrm>
            <a:custGeom>
              <a:avLst/>
              <a:gdLst/>
              <a:ahLst/>
              <a:cxnLst/>
              <a:rect r="r" b="b" t="t" l="l"/>
              <a:pathLst>
                <a:path h="247945" w="1715466">
                  <a:moveTo>
                    <a:pt x="123972" y="0"/>
                  </a:moveTo>
                  <a:lnTo>
                    <a:pt x="1591494" y="0"/>
                  </a:lnTo>
                  <a:cubicBezTo>
                    <a:pt x="1659962" y="0"/>
                    <a:pt x="1715466" y="55504"/>
                    <a:pt x="1715466" y="123972"/>
                  </a:cubicBezTo>
                  <a:lnTo>
                    <a:pt x="1715466" y="123972"/>
                  </a:lnTo>
                  <a:cubicBezTo>
                    <a:pt x="1715466" y="156852"/>
                    <a:pt x="1702405" y="188385"/>
                    <a:pt x="1679156" y="211634"/>
                  </a:cubicBezTo>
                  <a:cubicBezTo>
                    <a:pt x="1655906" y="234883"/>
                    <a:pt x="1624374" y="247945"/>
                    <a:pt x="1591494" y="247945"/>
                  </a:cubicBezTo>
                  <a:lnTo>
                    <a:pt x="123972" y="247945"/>
                  </a:lnTo>
                  <a:cubicBezTo>
                    <a:pt x="91093" y="247945"/>
                    <a:pt x="59560" y="234883"/>
                    <a:pt x="36311" y="211634"/>
                  </a:cubicBezTo>
                  <a:cubicBezTo>
                    <a:pt x="13061" y="188385"/>
                    <a:pt x="0" y="156852"/>
                    <a:pt x="0" y="123972"/>
                  </a:cubicBezTo>
                  <a:lnTo>
                    <a:pt x="0" y="123972"/>
                  </a:lnTo>
                  <a:cubicBezTo>
                    <a:pt x="0" y="91093"/>
                    <a:pt x="13061" y="59560"/>
                    <a:pt x="36311" y="36311"/>
                  </a:cubicBezTo>
                  <a:cubicBezTo>
                    <a:pt x="59560" y="13061"/>
                    <a:pt x="91093" y="0"/>
                    <a:pt x="1239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>
                  <a:alpha val="16863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15466" cy="314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05288" y="1028700"/>
            <a:ext cx="4328878" cy="878571"/>
            <a:chOff x="0" y="0"/>
            <a:chExt cx="1221668" cy="247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1668" cy="247945"/>
            </a:xfrm>
            <a:custGeom>
              <a:avLst/>
              <a:gdLst/>
              <a:ahLst/>
              <a:cxnLst/>
              <a:rect r="r" b="b" t="t" l="l"/>
              <a:pathLst>
                <a:path h="247945" w="1221668">
                  <a:moveTo>
                    <a:pt x="123972" y="0"/>
                  </a:moveTo>
                  <a:lnTo>
                    <a:pt x="1097696" y="0"/>
                  </a:lnTo>
                  <a:cubicBezTo>
                    <a:pt x="1130576" y="0"/>
                    <a:pt x="1162109" y="13061"/>
                    <a:pt x="1185358" y="36311"/>
                  </a:cubicBezTo>
                  <a:cubicBezTo>
                    <a:pt x="1208607" y="59560"/>
                    <a:pt x="1221668" y="91093"/>
                    <a:pt x="1221668" y="123972"/>
                  </a:cubicBezTo>
                  <a:lnTo>
                    <a:pt x="1221668" y="123972"/>
                  </a:lnTo>
                  <a:cubicBezTo>
                    <a:pt x="1221668" y="156852"/>
                    <a:pt x="1208607" y="188385"/>
                    <a:pt x="1185358" y="211634"/>
                  </a:cubicBezTo>
                  <a:cubicBezTo>
                    <a:pt x="1162109" y="234883"/>
                    <a:pt x="1130576" y="247945"/>
                    <a:pt x="1097696" y="247945"/>
                  </a:cubicBezTo>
                  <a:lnTo>
                    <a:pt x="123972" y="247945"/>
                  </a:lnTo>
                  <a:cubicBezTo>
                    <a:pt x="91093" y="247945"/>
                    <a:pt x="59560" y="234883"/>
                    <a:pt x="36311" y="211634"/>
                  </a:cubicBezTo>
                  <a:cubicBezTo>
                    <a:pt x="13061" y="188385"/>
                    <a:pt x="0" y="156852"/>
                    <a:pt x="0" y="123972"/>
                  </a:cubicBezTo>
                  <a:lnTo>
                    <a:pt x="0" y="123972"/>
                  </a:lnTo>
                  <a:cubicBezTo>
                    <a:pt x="0" y="91093"/>
                    <a:pt x="13061" y="59560"/>
                    <a:pt x="36311" y="36311"/>
                  </a:cubicBezTo>
                  <a:cubicBezTo>
                    <a:pt x="59560" y="13061"/>
                    <a:pt x="91093" y="0"/>
                    <a:pt x="1239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>
                  <a:alpha val="16863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21668" cy="314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5288" y="3170613"/>
            <a:ext cx="4328878" cy="878571"/>
            <a:chOff x="0" y="0"/>
            <a:chExt cx="1221668" cy="2479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1668" cy="247945"/>
            </a:xfrm>
            <a:custGeom>
              <a:avLst/>
              <a:gdLst/>
              <a:ahLst/>
              <a:cxnLst/>
              <a:rect r="r" b="b" t="t" l="l"/>
              <a:pathLst>
                <a:path h="247945" w="1221668">
                  <a:moveTo>
                    <a:pt x="123972" y="0"/>
                  </a:moveTo>
                  <a:lnTo>
                    <a:pt x="1097696" y="0"/>
                  </a:lnTo>
                  <a:cubicBezTo>
                    <a:pt x="1130576" y="0"/>
                    <a:pt x="1162109" y="13061"/>
                    <a:pt x="1185358" y="36311"/>
                  </a:cubicBezTo>
                  <a:cubicBezTo>
                    <a:pt x="1208607" y="59560"/>
                    <a:pt x="1221668" y="91093"/>
                    <a:pt x="1221668" y="123972"/>
                  </a:cubicBezTo>
                  <a:lnTo>
                    <a:pt x="1221668" y="123972"/>
                  </a:lnTo>
                  <a:cubicBezTo>
                    <a:pt x="1221668" y="156852"/>
                    <a:pt x="1208607" y="188385"/>
                    <a:pt x="1185358" y="211634"/>
                  </a:cubicBezTo>
                  <a:cubicBezTo>
                    <a:pt x="1162109" y="234883"/>
                    <a:pt x="1130576" y="247945"/>
                    <a:pt x="1097696" y="247945"/>
                  </a:cubicBezTo>
                  <a:lnTo>
                    <a:pt x="123972" y="247945"/>
                  </a:lnTo>
                  <a:cubicBezTo>
                    <a:pt x="91093" y="247945"/>
                    <a:pt x="59560" y="234883"/>
                    <a:pt x="36311" y="211634"/>
                  </a:cubicBezTo>
                  <a:cubicBezTo>
                    <a:pt x="13061" y="188385"/>
                    <a:pt x="0" y="156852"/>
                    <a:pt x="0" y="123972"/>
                  </a:cubicBezTo>
                  <a:lnTo>
                    <a:pt x="0" y="123972"/>
                  </a:lnTo>
                  <a:cubicBezTo>
                    <a:pt x="0" y="91093"/>
                    <a:pt x="13061" y="59560"/>
                    <a:pt x="36311" y="36311"/>
                  </a:cubicBezTo>
                  <a:cubicBezTo>
                    <a:pt x="59560" y="13061"/>
                    <a:pt x="91093" y="0"/>
                    <a:pt x="1239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>
                  <a:alpha val="16863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221668" cy="314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13412262" y="-2188058"/>
            <a:ext cx="6350815" cy="6013005"/>
          </a:xfrm>
          <a:custGeom>
            <a:avLst/>
            <a:gdLst/>
            <a:ahLst/>
            <a:cxnLst/>
            <a:rect r="r" b="b" t="t" l="l"/>
            <a:pathLst>
              <a:path h="6013005" w="6350815">
                <a:moveTo>
                  <a:pt x="6350814" y="0"/>
                </a:moveTo>
                <a:lnTo>
                  <a:pt x="0" y="0"/>
                </a:lnTo>
                <a:lnTo>
                  <a:pt x="0" y="6013005"/>
                </a:lnTo>
                <a:lnTo>
                  <a:pt x="6350814" y="6013005"/>
                </a:lnTo>
                <a:lnTo>
                  <a:pt x="6350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894645"/>
            <a:ext cx="9216137" cy="243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3"/>
              </a:lnSpc>
            </a:pPr>
            <a:r>
              <a:rPr lang="en-US" b="true" sz="9003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RESUMO EXECUTIVO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4675" y="3543223"/>
            <a:ext cx="10967316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Este projeto aplicou a metodologia CRISP-DM para analisar e prever padrões de absenteísmo em uma empresa de logística, utilizando dados de julho de 2007 a julho de 2010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83038" y="5641975"/>
            <a:ext cx="3413716" cy="878571"/>
            <a:chOff x="0" y="0"/>
            <a:chExt cx="963397" cy="2479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3397" cy="247945"/>
            </a:xfrm>
            <a:custGeom>
              <a:avLst/>
              <a:gdLst/>
              <a:ahLst/>
              <a:cxnLst/>
              <a:rect r="r" b="b" t="t" l="l"/>
              <a:pathLst>
                <a:path h="247945" w="963397">
                  <a:moveTo>
                    <a:pt x="123972" y="0"/>
                  </a:moveTo>
                  <a:lnTo>
                    <a:pt x="839425" y="0"/>
                  </a:lnTo>
                  <a:cubicBezTo>
                    <a:pt x="907893" y="0"/>
                    <a:pt x="963397" y="55504"/>
                    <a:pt x="963397" y="123972"/>
                  </a:cubicBezTo>
                  <a:lnTo>
                    <a:pt x="963397" y="123972"/>
                  </a:lnTo>
                  <a:cubicBezTo>
                    <a:pt x="963397" y="156852"/>
                    <a:pt x="950336" y="188385"/>
                    <a:pt x="927087" y="211634"/>
                  </a:cubicBezTo>
                  <a:cubicBezTo>
                    <a:pt x="903837" y="234883"/>
                    <a:pt x="872305" y="247945"/>
                    <a:pt x="839425" y="247945"/>
                  </a:cubicBezTo>
                  <a:lnTo>
                    <a:pt x="123972" y="247945"/>
                  </a:lnTo>
                  <a:cubicBezTo>
                    <a:pt x="91093" y="247945"/>
                    <a:pt x="59560" y="234883"/>
                    <a:pt x="36311" y="211634"/>
                  </a:cubicBezTo>
                  <a:cubicBezTo>
                    <a:pt x="13061" y="188385"/>
                    <a:pt x="0" y="156852"/>
                    <a:pt x="0" y="123972"/>
                  </a:cubicBezTo>
                  <a:lnTo>
                    <a:pt x="0" y="123972"/>
                  </a:lnTo>
                  <a:cubicBezTo>
                    <a:pt x="0" y="91093"/>
                    <a:pt x="13061" y="59560"/>
                    <a:pt x="36311" y="36311"/>
                  </a:cubicBezTo>
                  <a:cubicBezTo>
                    <a:pt x="59560" y="13061"/>
                    <a:pt x="91093" y="0"/>
                    <a:pt x="1239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BF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63397" cy="314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Desafio Inicial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6863179"/>
            <a:ext cx="4890386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Previsão 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exata de horas de ausência (Regressão), inviável devido à aleatoriedade de doenças e outras variáveis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67675" y="5641975"/>
            <a:ext cx="3413716" cy="878571"/>
            <a:chOff x="0" y="0"/>
            <a:chExt cx="963397" cy="2479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3397" cy="247945"/>
            </a:xfrm>
            <a:custGeom>
              <a:avLst/>
              <a:gdLst/>
              <a:ahLst/>
              <a:cxnLst/>
              <a:rect r="r" b="b" t="t" l="l"/>
              <a:pathLst>
                <a:path h="247945" w="963397">
                  <a:moveTo>
                    <a:pt x="123972" y="0"/>
                  </a:moveTo>
                  <a:lnTo>
                    <a:pt x="839425" y="0"/>
                  </a:lnTo>
                  <a:cubicBezTo>
                    <a:pt x="907893" y="0"/>
                    <a:pt x="963397" y="55504"/>
                    <a:pt x="963397" y="123972"/>
                  </a:cubicBezTo>
                  <a:lnTo>
                    <a:pt x="963397" y="123972"/>
                  </a:lnTo>
                  <a:cubicBezTo>
                    <a:pt x="963397" y="156852"/>
                    <a:pt x="950336" y="188385"/>
                    <a:pt x="927087" y="211634"/>
                  </a:cubicBezTo>
                  <a:cubicBezTo>
                    <a:pt x="903837" y="234883"/>
                    <a:pt x="872305" y="247945"/>
                    <a:pt x="839425" y="247945"/>
                  </a:cubicBezTo>
                  <a:lnTo>
                    <a:pt x="123972" y="247945"/>
                  </a:lnTo>
                  <a:cubicBezTo>
                    <a:pt x="91093" y="247945"/>
                    <a:pt x="59560" y="234883"/>
                    <a:pt x="36311" y="211634"/>
                  </a:cubicBezTo>
                  <a:cubicBezTo>
                    <a:pt x="13061" y="188385"/>
                    <a:pt x="0" y="156852"/>
                    <a:pt x="0" y="123972"/>
                  </a:cubicBezTo>
                  <a:lnTo>
                    <a:pt x="0" y="123972"/>
                  </a:lnTo>
                  <a:cubicBezTo>
                    <a:pt x="0" y="91093"/>
                    <a:pt x="13061" y="59560"/>
                    <a:pt x="36311" y="36311"/>
                  </a:cubicBezTo>
                  <a:cubicBezTo>
                    <a:pt x="59560" y="13061"/>
                    <a:pt x="91093" y="0"/>
                    <a:pt x="1239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BF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63397" cy="314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Nova abordagem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836651" y="6863179"/>
            <a:ext cx="5075764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 de Classificação de Risco (Random Forest), focado em segregar funcionários em perfis de "Baixo", "Médio" e "Alto" risco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56979" y="6863179"/>
            <a:ext cx="507576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Permitiu à gestão transitar de uma postura reativa para uma atitude preventiva.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412262" y="5641975"/>
            <a:ext cx="3413716" cy="878571"/>
            <a:chOff x="0" y="0"/>
            <a:chExt cx="963397" cy="2479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3397" cy="247945"/>
            </a:xfrm>
            <a:custGeom>
              <a:avLst/>
              <a:gdLst/>
              <a:ahLst/>
              <a:cxnLst/>
              <a:rect r="r" b="b" t="t" l="l"/>
              <a:pathLst>
                <a:path h="247945" w="963397">
                  <a:moveTo>
                    <a:pt x="123972" y="0"/>
                  </a:moveTo>
                  <a:lnTo>
                    <a:pt x="839425" y="0"/>
                  </a:lnTo>
                  <a:cubicBezTo>
                    <a:pt x="907893" y="0"/>
                    <a:pt x="963397" y="55504"/>
                    <a:pt x="963397" y="123972"/>
                  </a:cubicBezTo>
                  <a:lnTo>
                    <a:pt x="963397" y="123972"/>
                  </a:lnTo>
                  <a:cubicBezTo>
                    <a:pt x="963397" y="156852"/>
                    <a:pt x="950336" y="188385"/>
                    <a:pt x="927087" y="211634"/>
                  </a:cubicBezTo>
                  <a:cubicBezTo>
                    <a:pt x="903837" y="234883"/>
                    <a:pt x="872305" y="247945"/>
                    <a:pt x="839425" y="247945"/>
                  </a:cubicBezTo>
                  <a:lnTo>
                    <a:pt x="123972" y="247945"/>
                  </a:lnTo>
                  <a:cubicBezTo>
                    <a:pt x="91093" y="247945"/>
                    <a:pt x="59560" y="234883"/>
                    <a:pt x="36311" y="211634"/>
                  </a:cubicBezTo>
                  <a:cubicBezTo>
                    <a:pt x="13061" y="188385"/>
                    <a:pt x="0" y="156852"/>
                    <a:pt x="0" y="123972"/>
                  </a:cubicBezTo>
                  <a:lnTo>
                    <a:pt x="0" y="123972"/>
                  </a:lnTo>
                  <a:cubicBezTo>
                    <a:pt x="0" y="91093"/>
                    <a:pt x="13061" y="59560"/>
                    <a:pt x="36311" y="36311"/>
                  </a:cubicBezTo>
                  <a:cubicBezTo>
                    <a:pt x="59560" y="13061"/>
                    <a:pt x="91093" y="0"/>
                    <a:pt x="1239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BF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963397" cy="314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Impacto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6880" y="7434003"/>
            <a:ext cx="1001736" cy="1551735"/>
          </a:xfrm>
          <a:custGeom>
            <a:avLst/>
            <a:gdLst/>
            <a:ahLst/>
            <a:cxnLst/>
            <a:rect r="r" b="b" t="t" l="l"/>
            <a:pathLst>
              <a:path h="1551735" w="1001736">
                <a:moveTo>
                  <a:pt x="0" y="0"/>
                </a:moveTo>
                <a:lnTo>
                  <a:pt x="1001736" y="0"/>
                </a:lnTo>
                <a:lnTo>
                  <a:pt x="1001736" y="1551735"/>
                </a:lnTo>
                <a:lnTo>
                  <a:pt x="0" y="155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048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01585" y="611742"/>
            <a:ext cx="7294512" cy="188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b="true" sz="70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COMPREENSÃO DO NEGÓCIO: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6415" y="452628"/>
            <a:ext cx="1456545" cy="106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name="AutoShape 5" id="5"/>
          <p:cNvSpPr/>
          <p:nvPr/>
        </p:nvSpPr>
        <p:spPr>
          <a:xfrm>
            <a:off x="2701585" y="478392"/>
            <a:ext cx="472071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-345183" y="1267067"/>
            <a:ext cx="2297892" cy="808980"/>
          </a:xfrm>
          <a:custGeom>
            <a:avLst/>
            <a:gdLst/>
            <a:ahLst/>
            <a:cxnLst/>
            <a:rect r="r" b="b" t="t" l="l"/>
            <a:pathLst>
              <a:path h="808980" w="2297892">
                <a:moveTo>
                  <a:pt x="0" y="0"/>
                </a:moveTo>
                <a:lnTo>
                  <a:pt x="2297892" y="0"/>
                </a:lnTo>
                <a:lnTo>
                  <a:pt x="2297892" y="808980"/>
                </a:lnTo>
                <a:lnTo>
                  <a:pt x="0" y="80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2766" t="-121933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5646" y="4600859"/>
            <a:ext cx="5536390" cy="2677600"/>
          </a:xfrm>
          <a:custGeom>
            <a:avLst/>
            <a:gdLst/>
            <a:ahLst/>
            <a:cxnLst/>
            <a:rect r="r" b="b" t="t" l="l"/>
            <a:pathLst>
              <a:path h="2677600" w="5536390">
                <a:moveTo>
                  <a:pt x="0" y="0"/>
                </a:moveTo>
                <a:lnTo>
                  <a:pt x="5536390" y="0"/>
                </a:lnTo>
                <a:lnTo>
                  <a:pt x="5536390" y="2677600"/>
                </a:lnTo>
                <a:lnTo>
                  <a:pt x="0" y="267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9190" y="2854708"/>
            <a:ext cx="5004205" cy="71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40"/>
              </a:lnSpc>
              <a:spcBef>
                <a:spcPct val="0"/>
              </a:spcBef>
            </a:pPr>
            <a:r>
              <a:rPr lang="en-US" b="true" sz="3957">
                <a:solidFill>
                  <a:srgbClr val="FFBF00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revisado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5652" y="3793766"/>
            <a:ext cx="6817510" cy="52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0839" indent="-320419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Categorizar funcionários em: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2814" y="5236775"/>
            <a:ext cx="2252983" cy="135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b="true" sz="2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Faixas de risco de absenteísmo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9088" y="4736186"/>
            <a:ext cx="2252983" cy="45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25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Baixo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05638" y="5675853"/>
            <a:ext cx="2252983" cy="45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25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Médio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89088" y="6619871"/>
            <a:ext cx="2252983" cy="45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25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0972" y="7705825"/>
            <a:ext cx="11223951" cy="105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36548" indent="-318274" lvl="1">
              <a:lnSpc>
                <a:spcPts val="4127"/>
              </a:lnSpc>
              <a:buFont typeface="Arial"/>
              <a:buChar char="•"/>
            </a:pPr>
            <a:r>
              <a:rPr lang="en-US" sz="29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Avaliar impacto de fatores pessoais (idade, carga horária, filhos, hábitos) e de trabalho (distância, carga).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255646" y="3580530"/>
            <a:ext cx="518969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4205065" y="4801105"/>
            <a:ext cx="603546" cy="43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b="true" sz="3066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43943" y="5735291"/>
            <a:ext cx="603546" cy="43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b="true" sz="3066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05065" y="6671470"/>
            <a:ext cx="603546" cy="43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b="true" sz="3066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0">
            <a:off x="12492123" y="5518985"/>
            <a:ext cx="6998116" cy="6625876"/>
          </a:xfrm>
          <a:custGeom>
            <a:avLst/>
            <a:gdLst/>
            <a:ahLst/>
            <a:cxnLst/>
            <a:rect r="r" b="b" t="t" l="l"/>
            <a:pathLst>
              <a:path h="6625876" w="6998116">
                <a:moveTo>
                  <a:pt x="6998115" y="0"/>
                </a:moveTo>
                <a:lnTo>
                  <a:pt x="0" y="0"/>
                </a:lnTo>
                <a:lnTo>
                  <a:pt x="0" y="6625876"/>
                </a:lnTo>
                <a:lnTo>
                  <a:pt x="6998115" y="6625876"/>
                </a:lnTo>
                <a:lnTo>
                  <a:pt x="6998115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774682" y="2969008"/>
            <a:ext cx="690601" cy="690601"/>
          </a:xfrm>
          <a:custGeom>
            <a:avLst/>
            <a:gdLst/>
            <a:ahLst/>
            <a:cxnLst/>
            <a:rect r="r" b="b" t="t" l="l"/>
            <a:pathLst>
              <a:path h="690601" w="690601">
                <a:moveTo>
                  <a:pt x="0" y="0"/>
                </a:moveTo>
                <a:lnTo>
                  <a:pt x="690601" y="0"/>
                </a:lnTo>
                <a:lnTo>
                  <a:pt x="690601" y="690601"/>
                </a:lnTo>
                <a:lnTo>
                  <a:pt x="0" y="6906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true" rot="0">
            <a:off x="9996097" y="3875330"/>
            <a:ext cx="6332600" cy="4381135"/>
          </a:xfrm>
          <a:custGeom>
            <a:avLst/>
            <a:gdLst/>
            <a:ahLst/>
            <a:cxnLst/>
            <a:rect r="r" b="b" t="t" l="l"/>
            <a:pathLst>
              <a:path h="4381135" w="6332600">
                <a:moveTo>
                  <a:pt x="0" y="4381135"/>
                </a:moveTo>
                <a:lnTo>
                  <a:pt x="6332600" y="4381135"/>
                </a:lnTo>
                <a:lnTo>
                  <a:pt x="6332600" y="0"/>
                </a:lnTo>
                <a:lnTo>
                  <a:pt x="0" y="0"/>
                </a:lnTo>
                <a:lnTo>
                  <a:pt x="0" y="438113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712721" y="2761244"/>
            <a:ext cx="7147302" cy="57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1"/>
              </a:lnSpc>
            </a:pPr>
            <a:r>
              <a:rPr lang="en-US" b="true" sz="40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CRITÉRIOS DE SUCESSO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37813" y="4173157"/>
            <a:ext cx="2734928" cy="85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9"/>
              </a:lnSpc>
              <a:spcBef>
                <a:spcPct val="0"/>
              </a:spcBef>
            </a:pPr>
            <a:r>
              <a:rPr lang="en-US" b="true" sz="23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Identificação de fatores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94933" y="5387914"/>
            <a:ext cx="2734928" cy="127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9"/>
              </a:lnSpc>
              <a:spcBef>
                <a:spcPct val="0"/>
              </a:spcBef>
            </a:pPr>
            <a:r>
              <a:rPr lang="en-US" b="true" sz="23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alta sensibilidade (Recall)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28196" y="7022114"/>
            <a:ext cx="2734928" cy="85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9"/>
              </a:lnSpc>
              <a:spcBef>
                <a:spcPct val="0"/>
              </a:spcBef>
            </a:pPr>
            <a:r>
              <a:rPr lang="en-US" b="true" sz="23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Planos de ação por nível de risco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82158"/>
            <a:ext cx="6684814" cy="3555715"/>
            <a:chOff x="0" y="0"/>
            <a:chExt cx="1760609" cy="936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0609" cy="936485"/>
            </a:xfrm>
            <a:custGeom>
              <a:avLst/>
              <a:gdLst/>
              <a:ahLst/>
              <a:cxnLst/>
              <a:rect r="r" b="b" t="t" l="l"/>
              <a:pathLst>
                <a:path h="936485" w="1760609">
                  <a:moveTo>
                    <a:pt x="45167" y="0"/>
                  </a:moveTo>
                  <a:lnTo>
                    <a:pt x="1715442" y="0"/>
                  </a:lnTo>
                  <a:cubicBezTo>
                    <a:pt x="1740387" y="0"/>
                    <a:pt x="1760609" y="20222"/>
                    <a:pt x="1760609" y="45167"/>
                  </a:cubicBezTo>
                  <a:lnTo>
                    <a:pt x="1760609" y="891317"/>
                  </a:lnTo>
                  <a:cubicBezTo>
                    <a:pt x="1760609" y="903297"/>
                    <a:pt x="1755851" y="914785"/>
                    <a:pt x="1747380" y="923255"/>
                  </a:cubicBezTo>
                  <a:cubicBezTo>
                    <a:pt x="1738910" y="931726"/>
                    <a:pt x="1727421" y="936485"/>
                    <a:pt x="1715442" y="936485"/>
                  </a:cubicBezTo>
                  <a:lnTo>
                    <a:pt x="45167" y="936485"/>
                  </a:lnTo>
                  <a:cubicBezTo>
                    <a:pt x="20222" y="936485"/>
                    <a:pt x="0" y="916263"/>
                    <a:pt x="0" y="891317"/>
                  </a:cubicBezTo>
                  <a:lnTo>
                    <a:pt x="0" y="45167"/>
                  </a:lnTo>
                  <a:cubicBezTo>
                    <a:pt x="0" y="20222"/>
                    <a:pt x="20222" y="0"/>
                    <a:pt x="451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BF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760609" cy="100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77290" y="1910872"/>
            <a:ext cx="5896002" cy="3136651"/>
            <a:chOff x="0" y="0"/>
            <a:chExt cx="1552856" cy="826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2856" cy="826114"/>
            </a:xfrm>
            <a:custGeom>
              <a:avLst/>
              <a:gdLst/>
              <a:ahLst/>
              <a:cxnLst/>
              <a:rect r="r" b="b" t="t" l="l"/>
              <a:pathLst>
                <a:path h="826114" w="1552856">
                  <a:moveTo>
                    <a:pt x="51210" y="0"/>
                  </a:moveTo>
                  <a:lnTo>
                    <a:pt x="1501646" y="0"/>
                  </a:lnTo>
                  <a:cubicBezTo>
                    <a:pt x="1529929" y="0"/>
                    <a:pt x="1552856" y="22928"/>
                    <a:pt x="1552856" y="51210"/>
                  </a:cubicBezTo>
                  <a:lnTo>
                    <a:pt x="1552856" y="774904"/>
                  </a:lnTo>
                  <a:cubicBezTo>
                    <a:pt x="1552856" y="803186"/>
                    <a:pt x="1529929" y="826114"/>
                    <a:pt x="1501646" y="826114"/>
                  </a:cubicBezTo>
                  <a:lnTo>
                    <a:pt x="51210" y="826114"/>
                  </a:lnTo>
                  <a:cubicBezTo>
                    <a:pt x="37628" y="826114"/>
                    <a:pt x="24603" y="820719"/>
                    <a:pt x="14999" y="811115"/>
                  </a:cubicBezTo>
                  <a:cubicBezTo>
                    <a:pt x="5395" y="801511"/>
                    <a:pt x="0" y="788486"/>
                    <a:pt x="0" y="774904"/>
                  </a:cubicBezTo>
                  <a:lnTo>
                    <a:pt x="0" y="51210"/>
                  </a:lnTo>
                  <a:cubicBezTo>
                    <a:pt x="0" y="22928"/>
                    <a:pt x="22928" y="0"/>
                    <a:pt x="51210" y="0"/>
                  </a:cubicBezTo>
                  <a:close/>
                </a:path>
              </a:pathLst>
            </a:custGeom>
            <a:solidFill>
              <a:srgbClr val="FFBF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552856" cy="89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094805" y="8316011"/>
            <a:ext cx="4995862" cy="4995863"/>
          </a:xfrm>
          <a:custGeom>
            <a:avLst/>
            <a:gdLst/>
            <a:ahLst/>
            <a:cxnLst/>
            <a:rect r="r" b="b" t="t" l="l"/>
            <a:pathLst>
              <a:path h="4995863" w="4995862">
                <a:moveTo>
                  <a:pt x="0" y="0"/>
                </a:moveTo>
                <a:lnTo>
                  <a:pt x="4995863" y="0"/>
                </a:lnTo>
                <a:lnTo>
                  <a:pt x="4995863" y="4995862"/>
                </a:lnTo>
                <a:lnTo>
                  <a:pt x="0" y="499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86942" y="2039749"/>
            <a:ext cx="4995862" cy="4995862"/>
          </a:xfrm>
          <a:custGeom>
            <a:avLst/>
            <a:gdLst/>
            <a:ahLst/>
            <a:cxnLst/>
            <a:rect r="r" b="b" t="t" l="l"/>
            <a:pathLst>
              <a:path h="4995862" w="4995862">
                <a:moveTo>
                  <a:pt x="0" y="0"/>
                </a:moveTo>
                <a:lnTo>
                  <a:pt x="4995863" y="0"/>
                </a:lnTo>
                <a:lnTo>
                  <a:pt x="4995863" y="4995862"/>
                </a:lnTo>
                <a:lnTo>
                  <a:pt x="0" y="499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95111" y="3232482"/>
            <a:ext cx="455199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Motivo da Ausência</a:t>
            </a:r>
          </a:p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065822" y="2161196"/>
            <a:ext cx="455199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A2E"/>
                </a:solidFill>
                <a:latin typeface="Poppins Bold"/>
                <a:ea typeface="Poppins Bold"/>
                <a:cs typeface="Poppins Bold"/>
                <a:sym typeface="Poppins Bold"/>
              </a:rPr>
              <a:t>Dados Pessoais</a:t>
            </a:r>
          </a:p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12444" y="3830902"/>
            <a:ext cx="6317325" cy="332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4"/>
              </a:lnSpc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21 categorias de CID e 7 sem acompanhamento (ex: consulta médica, fisioterapia).</a:t>
            </a:r>
          </a:p>
          <a:p>
            <a:pPr algn="ctr" marL="0" indent="0" lvl="0">
              <a:lnSpc>
                <a:spcPts val="5374"/>
              </a:lnSpc>
            </a:pPr>
          </a:p>
          <a:p>
            <a:pPr algn="ctr" marL="0" indent="0" lvl="0">
              <a:lnSpc>
                <a:spcPts val="537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728629" y="2636924"/>
            <a:ext cx="5193324" cy="332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4"/>
              </a:lnSpc>
            </a:pPr>
            <a:r>
              <a:rPr lang="en-US" sz="2499">
                <a:solidFill>
                  <a:srgbClr val="000A2E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Idade, educação, filhos, peso, altura, IMC, hábitos (bebedor/fumante social).</a:t>
            </a:r>
          </a:p>
          <a:p>
            <a:pPr algn="ctr" marL="0" indent="0" lvl="0">
              <a:lnSpc>
                <a:spcPts val="5374"/>
              </a:lnSpc>
            </a:pPr>
          </a:p>
          <a:p>
            <a:pPr algn="ctr" marL="0" indent="0" lvl="0">
              <a:lnSpc>
                <a:spcPts val="537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58574" y="800965"/>
            <a:ext cx="7294512" cy="276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ENTENDIMENTO DOS DADOS:</a:t>
            </a:r>
          </a:p>
          <a:p>
            <a:pPr algn="l">
              <a:lnSpc>
                <a:spcPts val="700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01021" y="567056"/>
            <a:ext cx="1456545" cy="106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name="AutoShape 16" id="16"/>
          <p:cNvSpPr/>
          <p:nvPr/>
        </p:nvSpPr>
        <p:spPr>
          <a:xfrm>
            <a:off x="2286252" y="743815"/>
            <a:ext cx="472071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7237139" y="5380889"/>
            <a:ext cx="6684814" cy="3788276"/>
            <a:chOff x="0" y="0"/>
            <a:chExt cx="1760609" cy="9977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60609" cy="997735"/>
            </a:xfrm>
            <a:custGeom>
              <a:avLst/>
              <a:gdLst/>
              <a:ahLst/>
              <a:cxnLst/>
              <a:rect r="r" b="b" t="t" l="l"/>
              <a:pathLst>
                <a:path h="997735" w="1760609">
                  <a:moveTo>
                    <a:pt x="45167" y="0"/>
                  </a:moveTo>
                  <a:lnTo>
                    <a:pt x="1715442" y="0"/>
                  </a:lnTo>
                  <a:cubicBezTo>
                    <a:pt x="1740387" y="0"/>
                    <a:pt x="1760609" y="20222"/>
                    <a:pt x="1760609" y="45167"/>
                  </a:cubicBezTo>
                  <a:lnTo>
                    <a:pt x="1760609" y="952568"/>
                  </a:lnTo>
                  <a:cubicBezTo>
                    <a:pt x="1760609" y="977513"/>
                    <a:pt x="1740387" y="997735"/>
                    <a:pt x="1715442" y="997735"/>
                  </a:cubicBezTo>
                  <a:lnTo>
                    <a:pt x="45167" y="997735"/>
                  </a:lnTo>
                  <a:cubicBezTo>
                    <a:pt x="33188" y="997735"/>
                    <a:pt x="21700" y="992977"/>
                    <a:pt x="13229" y="984506"/>
                  </a:cubicBezTo>
                  <a:cubicBezTo>
                    <a:pt x="4759" y="976035"/>
                    <a:pt x="0" y="964547"/>
                    <a:pt x="0" y="952568"/>
                  </a:cubicBezTo>
                  <a:lnTo>
                    <a:pt x="0" y="45167"/>
                  </a:lnTo>
                  <a:cubicBezTo>
                    <a:pt x="0" y="20222"/>
                    <a:pt x="20222" y="0"/>
                    <a:pt x="451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BF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760609" cy="106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303550" y="5542228"/>
            <a:ext cx="455199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Dados de Trabalho</a:t>
            </a:r>
          </a:p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7443187" y="6201088"/>
            <a:ext cx="6272718" cy="332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4"/>
              </a:lnSpc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Tempo de serviço, carga média de trabalho, meta atingida, falha disciplinar, despesa de transporte, distância casa-trabalho.</a:t>
            </a:r>
          </a:p>
          <a:p>
            <a:pPr algn="ctr" marL="0" indent="0" lvl="0">
              <a:lnSpc>
                <a:spcPts val="537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0257" y="2930077"/>
            <a:ext cx="1001736" cy="1551735"/>
          </a:xfrm>
          <a:custGeom>
            <a:avLst/>
            <a:gdLst/>
            <a:ahLst/>
            <a:cxnLst/>
            <a:rect r="r" b="b" t="t" l="l"/>
            <a:pathLst>
              <a:path h="1551735" w="1001736">
                <a:moveTo>
                  <a:pt x="0" y="0"/>
                </a:moveTo>
                <a:lnTo>
                  <a:pt x="1001735" y="0"/>
                </a:lnTo>
                <a:lnTo>
                  <a:pt x="1001735" y="1551735"/>
                </a:lnTo>
                <a:lnTo>
                  <a:pt x="0" y="155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048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58432" y="7706565"/>
            <a:ext cx="1001736" cy="1551735"/>
          </a:xfrm>
          <a:custGeom>
            <a:avLst/>
            <a:gdLst/>
            <a:ahLst/>
            <a:cxnLst/>
            <a:rect r="r" b="b" t="t" l="l"/>
            <a:pathLst>
              <a:path h="1551735" w="1001736">
                <a:moveTo>
                  <a:pt x="0" y="0"/>
                </a:moveTo>
                <a:lnTo>
                  <a:pt x="1001736" y="0"/>
                </a:lnTo>
                <a:lnTo>
                  <a:pt x="1001736" y="1551735"/>
                </a:lnTo>
                <a:lnTo>
                  <a:pt x="0" y="155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048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7221" y="2910187"/>
            <a:ext cx="4551992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BF00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Transformação da Variável-Alvo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96333" y="3363563"/>
            <a:ext cx="455199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BF00"/>
                </a:solidFill>
                <a:latin typeface="Poppins Bold"/>
                <a:ea typeface="Poppins Bold"/>
                <a:cs typeface="Poppins Bold"/>
                <a:sym typeface="Poppins Bold"/>
              </a:rPr>
              <a:t>Tratamento de Dados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870048" y="4234162"/>
            <a:ext cx="5169945" cy="467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4"/>
              </a:lnSpc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variável numérica "Tempo de absenteísmo em horas" foi categorizada em:</a:t>
            </a:r>
          </a:p>
          <a:p>
            <a:pPr algn="just" marL="539746" indent="-269873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BF00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Risco Baixo: </a:t>
            </a: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 a 4 horas</a:t>
            </a:r>
          </a:p>
          <a:p>
            <a:pPr algn="just" marL="539746" indent="-269873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B8C00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Risco Médio:</a:t>
            </a: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5 a 8 horas</a:t>
            </a:r>
          </a:p>
          <a:p>
            <a:pPr algn="just" marL="539746" indent="-269873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5757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Risco Alto:</a:t>
            </a: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Acima de 8 horas</a:t>
            </a:r>
          </a:p>
          <a:p>
            <a:pPr algn="just" marL="0" indent="0" lvl="0">
              <a:lnSpc>
                <a:spcPts val="537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04608" y="4163664"/>
            <a:ext cx="6171938" cy="467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Remoção de duplicatas.</a:t>
            </a:r>
          </a:p>
          <a:p>
            <a:pPr algn="just" marL="539746" indent="-269873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Valores ausentes: substituídos por média, mediana ou moda.</a:t>
            </a:r>
          </a:p>
          <a:p>
            <a:pPr algn="just" marL="539746" indent="-269873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Outliers: 'Carga média de trabalho por dia' e 'Tempo de absenteísmo em horas' foram ajustados.</a:t>
            </a:r>
          </a:p>
          <a:p>
            <a:pPr algn="just" marL="0" indent="0" lvl="0">
              <a:lnSpc>
                <a:spcPts val="53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47809" y="756862"/>
            <a:ext cx="7294512" cy="365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sz="700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PREPARAÇÃO DOS DADOS:</a:t>
            </a:r>
          </a:p>
          <a:p>
            <a:pPr algn="l">
              <a:lnSpc>
                <a:spcPts val="7001"/>
              </a:lnSpc>
            </a:pPr>
          </a:p>
          <a:p>
            <a:pPr algn="l">
              <a:lnSpc>
                <a:spcPts val="700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90257" y="522952"/>
            <a:ext cx="1456545" cy="106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975488" y="699712"/>
            <a:ext cx="472071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9018" y="832608"/>
            <a:ext cx="7294512" cy="1030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1"/>
              </a:lnSpc>
            </a:pPr>
            <a:r>
              <a:rPr lang="en-US" b="true" sz="72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MODELAGEM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6595" y="530351"/>
            <a:ext cx="1456545" cy="106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name="AutoShape 4" id="4"/>
          <p:cNvSpPr/>
          <p:nvPr/>
        </p:nvSpPr>
        <p:spPr>
          <a:xfrm>
            <a:off x="2129018" y="699258"/>
            <a:ext cx="472071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175874" y="5765800"/>
            <a:ext cx="7923881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9"/>
              </a:lnSpc>
            </a:pPr>
            <a:r>
              <a:rPr lang="en-US" sz="2400" b="true">
                <a:solidFill>
                  <a:srgbClr val="FFFFFF">
                    <a:alpha val="8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Forest Classifier:</a:t>
            </a:r>
          </a:p>
          <a:p>
            <a:pPr algn="just" marL="518160" indent="-259080" lvl="1">
              <a:lnSpc>
                <a:spcPts val="5159"/>
              </a:lnSpc>
              <a:buFont typeface="Arial"/>
              <a:buChar char="•"/>
            </a:pPr>
            <a:r>
              <a:rPr lang="en-US" sz="24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ida com relações não lineares</a:t>
            </a:r>
          </a:p>
          <a:p>
            <a:pPr algn="just" marL="518160" indent="-259080" lvl="1">
              <a:lnSpc>
                <a:spcPts val="5159"/>
              </a:lnSpc>
              <a:buFont typeface="Arial"/>
              <a:buChar char="•"/>
            </a:pPr>
            <a:r>
              <a:rPr lang="en-US" sz="24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Fornece a explicabilidade das variáveis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80080" y="2525161"/>
            <a:ext cx="743828" cy="61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9"/>
              </a:lnSpc>
            </a:pPr>
            <a:r>
              <a:rPr lang="en-US" b="true" sz="4329">
                <a:solidFill>
                  <a:srgbClr val="FFBF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47420"/>
            <a:ext cx="6883686" cy="253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9"/>
              </a:lnSpc>
            </a:pPr>
            <a:r>
              <a:rPr lang="en-US" sz="23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R² negativo indica: alta variabilidade e incapacidade de prever o tempo exato de ausência.</a:t>
            </a:r>
          </a:p>
          <a:p>
            <a:pPr algn="just" marL="0" indent="0" lvl="0">
              <a:lnSpc>
                <a:spcPts val="5159"/>
              </a:lnSpc>
            </a:pP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645673" y="765933"/>
          <a:ext cx="9155595" cy="4786580"/>
        </p:xfrm>
        <a:graphic>
          <a:graphicData uri="http://schemas.openxmlformats.org/drawingml/2006/table">
            <a:tbl>
              <a:tblPr/>
              <a:tblGrid>
                <a:gridCol w="2288899"/>
                <a:gridCol w="2288899"/>
                <a:gridCol w="2453173"/>
                <a:gridCol w="2124625"/>
              </a:tblGrid>
              <a:tr h="12001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Modelo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Erro médio em Horas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R² (Capacidade de Explicação)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Status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01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Regressão Linear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11.99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-0.5687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Descartado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01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Árvore de Decisão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11.58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-0.4632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Descartado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60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BF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Random Forest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10.40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-0.1812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8B62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Selecionado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736595" y="2635315"/>
            <a:ext cx="2243485" cy="39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2799">
                <a:solidFill>
                  <a:srgbClr val="FFBF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TENTATIVA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8965" y="6032500"/>
            <a:ext cx="2243485" cy="39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2799">
                <a:solidFill>
                  <a:srgbClr val="FFBF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TENTATIVA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11747" y="2844548"/>
            <a:ext cx="2471835" cy="44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b="true" sz="3199">
                <a:solidFill>
                  <a:srgbClr val="F57C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REGRESSÃO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59234" y="6673681"/>
            <a:ext cx="328843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999">
                <a:solidFill>
                  <a:srgbClr val="F57C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</a:t>
            </a:r>
            <a:r>
              <a:rPr lang="en-US" b="true" sz="2999">
                <a:solidFill>
                  <a:srgbClr val="F57C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LASSIFICAÇÃO DE RISCO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52450" y="5934411"/>
            <a:ext cx="743828" cy="61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9"/>
              </a:lnSpc>
            </a:pPr>
            <a:r>
              <a:rPr lang="en-US" b="true" sz="4329">
                <a:solidFill>
                  <a:srgbClr val="FFBF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014335"/>
            <a:ext cx="10733577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59"/>
              </a:lnSpc>
            </a:pPr>
            <a:r>
              <a:rPr lang="en-US" sz="24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Classe "Risco Alto" minoria dos dados: enviesava o modelo para prever apenas riscos baixos.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97660" y="8866505"/>
            <a:ext cx="265173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weight='balanced'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31488" y="8662035"/>
            <a:ext cx="1488771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59"/>
              </a:lnSpc>
            </a:pPr>
            <a:r>
              <a:rPr lang="en-US" sz="24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Solução: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702795" y="4736166"/>
            <a:ext cx="5585205" cy="5585205"/>
          </a:xfrm>
          <a:custGeom>
            <a:avLst/>
            <a:gdLst/>
            <a:ahLst/>
            <a:cxnLst/>
            <a:rect r="r" b="b" t="t" l="l"/>
            <a:pathLst>
              <a:path h="5585205" w="5585205">
                <a:moveTo>
                  <a:pt x="0" y="0"/>
                </a:moveTo>
                <a:lnTo>
                  <a:pt x="5585205" y="0"/>
                </a:lnTo>
                <a:lnTo>
                  <a:pt x="5585205" y="5585204"/>
                </a:lnTo>
                <a:lnTo>
                  <a:pt x="0" y="558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1147" y="2049010"/>
            <a:ext cx="11568153" cy="6940892"/>
          </a:xfrm>
          <a:custGeom>
            <a:avLst/>
            <a:gdLst/>
            <a:ahLst/>
            <a:cxnLst/>
            <a:rect r="r" b="b" t="t" l="l"/>
            <a:pathLst>
              <a:path h="6940892" w="11568153">
                <a:moveTo>
                  <a:pt x="0" y="0"/>
                </a:moveTo>
                <a:lnTo>
                  <a:pt x="11568153" y="0"/>
                </a:lnTo>
                <a:lnTo>
                  <a:pt x="11568153" y="6940892"/>
                </a:lnTo>
                <a:lnTo>
                  <a:pt x="0" y="694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6669"/>
            <a:ext cx="8617407" cy="188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1"/>
              </a:lnSpc>
            </a:pPr>
            <a:r>
              <a:rPr lang="en-US" b="true" sz="70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DA MODELAGEM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2775" y="500027"/>
            <a:ext cx="9671098" cy="9564198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1944145" y="8372553"/>
            <a:ext cx="7199855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870048" y="4234162"/>
            <a:ext cx="5169945" cy="265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BF00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Risco Baixo: </a:t>
            </a: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 a 4 horas</a:t>
            </a:r>
          </a:p>
          <a:p>
            <a:pPr algn="just" marL="539746" indent="-269873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B8C00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Risco Médio:</a:t>
            </a: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5 a 8 horas</a:t>
            </a:r>
          </a:p>
          <a:p>
            <a:pPr algn="just" marL="539746" indent="-269873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5757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Risco Alto:</a:t>
            </a: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Acima de 8 horas</a:t>
            </a:r>
          </a:p>
          <a:p>
            <a:pPr algn="just" marL="0" indent="0" lvl="0">
              <a:lnSpc>
                <a:spcPts val="537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0853" y="452587"/>
            <a:ext cx="1386062" cy="1152226"/>
          </a:xfrm>
          <a:custGeom>
            <a:avLst/>
            <a:gdLst/>
            <a:ahLst/>
            <a:cxnLst/>
            <a:rect r="r" b="b" t="t" l="l"/>
            <a:pathLst>
              <a:path h="1152226" w="1386062">
                <a:moveTo>
                  <a:pt x="0" y="0"/>
                </a:moveTo>
                <a:lnTo>
                  <a:pt x="1386062" y="0"/>
                </a:lnTo>
                <a:lnTo>
                  <a:pt x="1386062" y="1152226"/>
                </a:lnTo>
                <a:lnTo>
                  <a:pt x="0" y="1152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7514836"/>
            <a:ext cx="676375" cy="676375"/>
          </a:xfrm>
          <a:custGeom>
            <a:avLst/>
            <a:gdLst/>
            <a:ahLst/>
            <a:cxnLst/>
            <a:rect r="r" b="b" t="t" l="l"/>
            <a:pathLst>
              <a:path h="676375" w="676375">
                <a:moveTo>
                  <a:pt x="0" y="0"/>
                </a:moveTo>
                <a:lnTo>
                  <a:pt x="676375" y="0"/>
                </a:lnTo>
                <a:lnTo>
                  <a:pt x="676375" y="676374"/>
                </a:lnTo>
                <a:lnTo>
                  <a:pt x="0" y="676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8728" y="7514836"/>
            <a:ext cx="676375" cy="676375"/>
          </a:xfrm>
          <a:custGeom>
            <a:avLst/>
            <a:gdLst/>
            <a:ahLst/>
            <a:cxnLst/>
            <a:rect r="r" b="b" t="t" l="l"/>
            <a:pathLst>
              <a:path h="676375" w="676375">
                <a:moveTo>
                  <a:pt x="0" y="0"/>
                </a:moveTo>
                <a:lnTo>
                  <a:pt x="676374" y="0"/>
                </a:lnTo>
                <a:lnTo>
                  <a:pt x="676374" y="676374"/>
                </a:lnTo>
                <a:lnTo>
                  <a:pt x="0" y="676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1121907" y="5496673"/>
            <a:ext cx="7945909" cy="7523254"/>
          </a:xfrm>
          <a:custGeom>
            <a:avLst/>
            <a:gdLst/>
            <a:ahLst/>
            <a:cxnLst/>
            <a:rect r="r" b="b" t="t" l="l"/>
            <a:pathLst>
              <a:path h="7523254" w="7945909">
                <a:moveTo>
                  <a:pt x="7945909" y="0"/>
                </a:moveTo>
                <a:lnTo>
                  <a:pt x="0" y="0"/>
                </a:lnTo>
                <a:lnTo>
                  <a:pt x="0" y="7523254"/>
                </a:lnTo>
                <a:lnTo>
                  <a:pt x="7945909" y="7523254"/>
                </a:lnTo>
                <a:lnTo>
                  <a:pt x="7945909" y="0"/>
                </a:lnTo>
                <a:close/>
              </a:path>
            </a:pathLst>
          </a:custGeom>
          <a:blipFill>
            <a:blip r:embed="rId8">
              <a:alphaModFix amt="6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53455" y="7514836"/>
            <a:ext cx="676375" cy="676375"/>
          </a:xfrm>
          <a:custGeom>
            <a:avLst/>
            <a:gdLst/>
            <a:ahLst/>
            <a:cxnLst/>
            <a:rect r="r" b="b" t="t" l="l"/>
            <a:pathLst>
              <a:path h="676375" w="676375">
                <a:moveTo>
                  <a:pt x="0" y="0"/>
                </a:moveTo>
                <a:lnTo>
                  <a:pt x="676375" y="0"/>
                </a:lnTo>
                <a:lnTo>
                  <a:pt x="676375" y="676374"/>
                </a:lnTo>
                <a:lnTo>
                  <a:pt x="0" y="676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8850" y="1963275"/>
            <a:ext cx="15640450" cy="6360450"/>
          </a:xfrm>
          <a:custGeom>
            <a:avLst/>
            <a:gdLst/>
            <a:ahLst/>
            <a:cxnLst/>
            <a:rect r="r" b="b" t="t" l="l"/>
            <a:pathLst>
              <a:path h="6360450" w="15640450">
                <a:moveTo>
                  <a:pt x="0" y="0"/>
                </a:moveTo>
                <a:lnTo>
                  <a:pt x="15640450" y="0"/>
                </a:lnTo>
                <a:lnTo>
                  <a:pt x="15640450" y="6360450"/>
                </a:lnTo>
                <a:lnTo>
                  <a:pt x="0" y="6360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6936" y="700871"/>
            <a:ext cx="9173439" cy="157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2"/>
              </a:lnSpc>
            </a:pPr>
            <a:r>
              <a:rPr lang="en-US" b="true" sz="580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PLANOS DE AÇÃO POR NÍVEIS DE RISCO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41759" y="4385423"/>
            <a:ext cx="5090249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Nenhuma intervenção ativa. </a:t>
            </a:r>
          </a:p>
          <a:p>
            <a:pPr algn="just" marL="539749" indent="-269875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Acompanhamento passivo via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56773" y="3022880"/>
            <a:ext cx="3325184" cy="54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7"/>
              </a:lnSpc>
            </a:pPr>
            <a:r>
              <a:rPr lang="en-US" b="true" sz="38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RISCO BAIXO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91643" y="3022880"/>
            <a:ext cx="3325184" cy="54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7"/>
              </a:lnSpc>
            </a:pPr>
            <a:r>
              <a:rPr lang="en-US" b="true" sz="38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RISCO MÉDIO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98728" y="3754711"/>
            <a:ext cx="5566084" cy="332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gestor direto recebe um alerta para verificar se há necessidade de compensação de horas ou ajuste pontual de tarefas.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0853" y="452587"/>
            <a:ext cx="1386062" cy="1152226"/>
          </a:xfrm>
          <a:custGeom>
            <a:avLst/>
            <a:gdLst/>
            <a:ahLst/>
            <a:cxnLst/>
            <a:rect r="r" b="b" t="t" l="l"/>
            <a:pathLst>
              <a:path h="1152226" w="1386062">
                <a:moveTo>
                  <a:pt x="0" y="0"/>
                </a:moveTo>
                <a:lnTo>
                  <a:pt x="1386062" y="0"/>
                </a:lnTo>
                <a:lnTo>
                  <a:pt x="1386062" y="1152226"/>
                </a:lnTo>
                <a:lnTo>
                  <a:pt x="0" y="1152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21907" y="690513"/>
            <a:ext cx="676375" cy="676375"/>
          </a:xfrm>
          <a:custGeom>
            <a:avLst/>
            <a:gdLst/>
            <a:ahLst/>
            <a:cxnLst/>
            <a:rect r="r" b="b" t="t" l="l"/>
            <a:pathLst>
              <a:path h="676375" w="676375">
                <a:moveTo>
                  <a:pt x="0" y="0"/>
                </a:moveTo>
                <a:lnTo>
                  <a:pt x="676374" y="0"/>
                </a:lnTo>
                <a:lnTo>
                  <a:pt x="676374" y="676374"/>
                </a:lnTo>
                <a:lnTo>
                  <a:pt x="0" y="676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76634" y="690513"/>
            <a:ext cx="676375" cy="676375"/>
          </a:xfrm>
          <a:custGeom>
            <a:avLst/>
            <a:gdLst/>
            <a:ahLst/>
            <a:cxnLst/>
            <a:rect r="r" b="b" t="t" l="l"/>
            <a:pathLst>
              <a:path h="676375" w="676375">
                <a:moveTo>
                  <a:pt x="0" y="0"/>
                </a:moveTo>
                <a:lnTo>
                  <a:pt x="676375" y="0"/>
                </a:lnTo>
                <a:lnTo>
                  <a:pt x="676375" y="676374"/>
                </a:lnTo>
                <a:lnTo>
                  <a:pt x="0" y="676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1121907" y="5496673"/>
            <a:ext cx="7945909" cy="7523254"/>
          </a:xfrm>
          <a:custGeom>
            <a:avLst/>
            <a:gdLst/>
            <a:ahLst/>
            <a:cxnLst/>
            <a:rect r="r" b="b" t="t" l="l"/>
            <a:pathLst>
              <a:path h="7523254" w="7945909">
                <a:moveTo>
                  <a:pt x="7945909" y="0"/>
                </a:moveTo>
                <a:lnTo>
                  <a:pt x="0" y="0"/>
                </a:lnTo>
                <a:lnTo>
                  <a:pt x="0" y="7523254"/>
                </a:lnTo>
                <a:lnTo>
                  <a:pt x="7945909" y="7523254"/>
                </a:lnTo>
                <a:lnTo>
                  <a:pt x="7945909" y="0"/>
                </a:lnTo>
                <a:close/>
              </a:path>
            </a:pathLst>
          </a:custGeom>
          <a:blipFill>
            <a:blip r:embed="rId8">
              <a:alphaModFix amt="6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31362" y="690513"/>
            <a:ext cx="676375" cy="676375"/>
          </a:xfrm>
          <a:custGeom>
            <a:avLst/>
            <a:gdLst/>
            <a:ahLst/>
            <a:cxnLst/>
            <a:rect r="r" b="b" t="t" l="l"/>
            <a:pathLst>
              <a:path h="676375" w="676375">
                <a:moveTo>
                  <a:pt x="0" y="0"/>
                </a:moveTo>
                <a:lnTo>
                  <a:pt x="676374" y="0"/>
                </a:lnTo>
                <a:lnTo>
                  <a:pt x="676374" y="676374"/>
                </a:lnTo>
                <a:lnTo>
                  <a:pt x="0" y="676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6936" y="700871"/>
            <a:ext cx="9173439" cy="157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2"/>
              </a:lnSpc>
            </a:pPr>
            <a:r>
              <a:rPr lang="en-US" b="true" sz="580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PLANOS DE AÇÃO POR NÍVEIS DE RISCO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10051"/>
            <a:ext cx="4841001" cy="415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0"/>
              </a:lnSpc>
            </a:pPr>
            <a:r>
              <a:rPr lang="en-US" sz="2200" b="true">
                <a:solidFill>
                  <a:srgbClr val="FFFFFF">
                    <a:alpha val="8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Monitoramento de Saúde (Idade e Carga):</a:t>
            </a:r>
          </a:p>
          <a:p>
            <a:pPr algn="just" marL="474981" indent="-237491" lvl="1">
              <a:lnSpc>
                <a:spcPts val="4730"/>
              </a:lnSpc>
              <a:buFont typeface="Arial"/>
              <a:buChar char="•"/>
            </a:pP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aixa etária de 51-60 anos</a:t>
            </a:r>
          </a:p>
          <a:p>
            <a:pPr algn="just" marL="474981" indent="-237491" lvl="1">
              <a:lnSpc>
                <a:spcPts val="4730"/>
              </a:lnSpc>
              <a:buFont typeface="Arial"/>
              <a:buChar char="•"/>
            </a:pP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Bloqueio de horas extras para funcionários de "Alto Risco" com carga de trabalho elevada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80336" y="2312617"/>
            <a:ext cx="3325184" cy="60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7"/>
              </a:lnSpc>
            </a:pPr>
            <a:r>
              <a:rPr lang="en-US" b="true" sz="42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RISCO ALTO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71318" y="3292966"/>
            <a:ext cx="4347967" cy="3201259"/>
            <a:chOff x="0" y="0"/>
            <a:chExt cx="1145144" cy="843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5143" cy="843130"/>
            </a:xfrm>
            <a:custGeom>
              <a:avLst/>
              <a:gdLst/>
              <a:ahLst/>
              <a:cxnLst/>
              <a:rect r="r" b="b" t="t" l="l"/>
              <a:pathLst>
                <a:path h="843130" w="1145143">
                  <a:moveTo>
                    <a:pt x="69443" y="0"/>
                  </a:moveTo>
                  <a:lnTo>
                    <a:pt x="1075701" y="0"/>
                  </a:lnTo>
                  <a:cubicBezTo>
                    <a:pt x="1094118" y="0"/>
                    <a:pt x="1111781" y="7316"/>
                    <a:pt x="1124804" y="20339"/>
                  </a:cubicBezTo>
                  <a:cubicBezTo>
                    <a:pt x="1137827" y="33362"/>
                    <a:pt x="1145143" y="51025"/>
                    <a:pt x="1145143" y="69443"/>
                  </a:cubicBezTo>
                  <a:lnTo>
                    <a:pt x="1145143" y="773687"/>
                  </a:lnTo>
                  <a:cubicBezTo>
                    <a:pt x="1145143" y="792105"/>
                    <a:pt x="1137827" y="809768"/>
                    <a:pt x="1124804" y="822791"/>
                  </a:cubicBezTo>
                  <a:cubicBezTo>
                    <a:pt x="1111781" y="835814"/>
                    <a:pt x="1094118" y="843130"/>
                    <a:pt x="1075701" y="843130"/>
                  </a:cubicBezTo>
                  <a:lnTo>
                    <a:pt x="69443" y="843130"/>
                  </a:lnTo>
                  <a:cubicBezTo>
                    <a:pt x="51025" y="843130"/>
                    <a:pt x="33362" y="835814"/>
                    <a:pt x="20339" y="822791"/>
                  </a:cubicBezTo>
                  <a:cubicBezTo>
                    <a:pt x="7316" y="809768"/>
                    <a:pt x="0" y="792105"/>
                    <a:pt x="0" y="773687"/>
                  </a:cubicBezTo>
                  <a:lnTo>
                    <a:pt x="0" y="69443"/>
                  </a:lnTo>
                  <a:cubicBezTo>
                    <a:pt x="0" y="51025"/>
                    <a:pt x="7316" y="33362"/>
                    <a:pt x="20339" y="20339"/>
                  </a:cubicBezTo>
                  <a:cubicBezTo>
                    <a:pt x="33362" y="7316"/>
                    <a:pt x="51025" y="0"/>
                    <a:pt x="69443" y="0"/>
                  </a:cubicBezTo>
                  <a:close/>
                </a:path>
              </a:pathLst>
            </a:custGeom>
            <a:solidFill>
              <a:srgbClr val="FFBF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145144" cy="909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460094" y="3307048"/>
            <a:ext cx="6109896" cy="295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0"/>
              </a:lnSpc>
            </a:pPr>
            <a:r>
              <a:rPr lang="en-US" sz="2200" b="true">
                <a:solidFill>
                  <a:srgbClr val="FFFFFF">
                    <a:alpha val="8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Pilar Comportamental (Falha Disciplinar): </a:t>
            </a:r>
          </a:p>
          <a:p>
            <a:pPr algn="just" marL="474981" indent="-237491" lvl="1">
              <a:lnSpc>
                <a:spcPts val="4730"/>
              </a:lnSpc>
              <a:buFont typeface="Arial"/>
              <a:buChar char="•"/>
            </a:pP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Intervenção do RH (advertência)</a:t>
            </a:r>
          </a:p>
          <a:p>
            <a:pPr algn="just" marL="474981" indent="-237491" lvl="1">
              <a:lnSpc>
                <a:spcPts val="4730"/>
              </a:lnSpc>
              <a:buFont typeface="Arial"/>
              <a:buChar char="•"/>
            </a:pP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Investigar as causas</a:t>
            </a:r>
          </a:p>
          <a:p>
            <a:pPr algn="just" marL="474981" indent="-237491" lvl="1">
              <a:lnSpc>
                <a:spcPts val="4730"/>
              </a:lnSpc>
              <a:buFont typeface="Arial"/>
              <a:buChar char="•"/>
            </a:pP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alta probabilidade de se tornar um absenteísta crônico (Risco Alto).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79042" y="6708742"/>
            <a:ext cx="8111889" cy="295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0"/>
              </a:lnSpc>
            </a:pPr>
            <a:r>
              <a:rPr lang="en-US" sz="2200" b="true">
                <a:solidFill>
                  <a:srgbClr val="FFFFFF">
                    <a:alpha val="8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Política de Mobilidade: </a:t>
            </a:r>
          </a:p>
          <a:p>
            <a:pPr algn="just" marL="474981" indent="-237491" lvl="1">
              <a:lnSpc>
                <a:spcPts val="4730"/>
              </a:lnSpc>
              <a:buFont typeface="Arial"/>
              <a:buChar char="•"/>
            </a:pP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Fun</a:t>
            </a: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cionários que moram a mais de 25km da empresa</a:t>
            </a:r>
          </a:p>
          <a:p>
            <a:pPr algn="just" marL="474981" indent="-237491" lvl="1">
              <a:lnSpc>
                <a:spcPts val="4730"/>
              </a:lnSpc>
              <a:buFont typeface="Arial"/>
              <a:buChar char="•"/>
            </a:pP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Flexibilidade de Horário ou trabalho Híbrido</a:t>
            </a:r>
          </a:p>
          <a:p>
            <a:pPr algn="just" marL="474981" indent="-237491" lvl="1">
              <a:lnSpc>
                <a:spcPts val="4730"/>
              </a:lnSpc>
              <a:buFont typeface="Arial"/>
              <a:buChar char="•"/>
            </a:pPr>
            <a:r>
              <a:rPr lang="en-US" sz="2200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Reduzir o desgaste físico do deslocamento.</a:t>
            </a:r>
          </a:p>
          <a:p>
            <a:pPr algn="just">
              <a:lnSpc>
                <a:spcPts val="473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766346" y="3266170"/>
            <a:ext cx="5441196" cy="4458354"/>
            <a:chOff x="0" y="0"/>
            <a:chExt cx="1433072" cy="11742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3072" cy="1174217"/>
            </a:xfrm>
            <a:custGeom>
              <a:avLst/>
              <a:gdLst/>
              <a:ahLst/>
              <a:cxnLst/>
              <a:rect r="r" b="b" t="t" l="l"/>
              <a:pathLst>
                <a:path h="1174217" w="1433072">
                  <a:moveTo>
                    <a:pt x="55491" y="0"/>
                  </a:moveTo>
                  <a:lnTo>
                    <a:pt x="1377582" y="0"/>
                  </a:lnTo>
                  <a:cubicBezTo>
                    <a:pt x="1392299" y="0"/>
                    <a:pt x="1406413" y="5846"/>
                    <a:pt x="1416820" y="16253"/>
                  </a:cubicBezTo>
                  <a:cubicBezTo>
                    <a:pt x="1427226" y="26659"/>
                    <a:pt x="1433072" y="40774"/>
                    <a:pt x="1433072" y="55491"/>
                  </a:cubicBezTo>
                  <a:lnTo>
                    <a:pt x="1433072" y="1118726"/>
                  </a:lnTo>
                  <a:cubicBezTo>
                    <a:pt x="1433072" y="1133443"/>
                    <a:pt x="1427226" y="1147557"/>
                    <a:pt x="1416820" y="1157964"/>
                  </a:cubicBezTo>
                  <a:cubicBezTo>
                    <a:pt x="1406413" y="1168370"/>
                    <a:pt x="1392299" y="1174217"/>
                    <a:pt x="1377582" y="1174217"/>
                  </a:cubicBezTo>
                  <a:lnTo>
                    <a:pt x="55491" y="1174217"/>
                  </a:lnTo>
                  <a:cubicBezTo>
                    <a:pt x="40774" y="1174217"/>
                    <a:pt x="26659" y="1168370"/>
                    <a:pt x="16253" y="1157964"/>
                  </a:cubicBezTo>
                  <a:cubicBezTo>
                    <a:pt x="5846" y="1147557"/>
                    <a:pt x="0" y="1133443"/>
                    <a:pt x="0" y="1118726"/>
                  </a:cubicBezTo>
                  <a:lnTo>
                    <a:pt x="0" y="55491"/>
                  </a:lnTo>
                  <a:cubicBezTo>
                    <a:pt x="0" y="40774"/>
                    <a:pt x="5846" y="26659"/>
                    <a:pt x="16253" y="16253"/>
                  </a:cubicBezTo>
                  <a:cubicBezTo>
                    <a:pt x="26659" y="5846"/>
                    <a:pt x="40774" y="0"/>
                    <a:pt x="554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BF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433072" cy="1240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81066" y="6635003"/>
            <a:ext cx="8613795" cy="2758359"/>
            <a:chOff x="0" y="0"/>
            <a:chExt cx="2268654" cy="7264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68654" cy="726481"/>
            </a:xfrm>
            <a:custGeom>
              <a:avLst/>
              <a:gdLst/>
              <a:ahLst/>
              <a:cxnLst/>
              <a:rect r="r" b="b" t="t" l="l"/>
              <a:pathLst>
                <a:path h="726481" w="2268654">
                  <a:moveTo>
                    <a:pt x="35052" y="0"/>
                  </a:moveTo>
                  <a:lnTo>
                    <a:pt x="2233601" y="0"/>
                  </a:lnTo>
                  <a:cubicBezTo>
                    <a:pt x="2252960" y="0"/>
                    <a:pt x="2268654" y="15694"/>
                    <a:pt x="2268654" y="35052"/>
                  </a:cubicBezTo>
                  <a:lnTo>
                    <a:pt x="2268654" y="691429"/>
                  </a:lnTo>
                  <a:cubicBezTo>
                    <a:pt x="2268654" y="700725"/>
                    <a:pt x="2264961" y="709641"/>
                    <a:pt x="2258387" y="716215"/>
                  </a:cubicBezTo>
                  <a:cubicBezTo>
                    <a:pt x="2251814" y="722788"/>
                    <a:pt x="2242898" y="726481"/>
                    <a:pt x="2233601" y="726481"/>
                  </a:cubicBezTo>
                  <a:lnTo>
                    <a:pt x="35052" y="726481"/>
                  </a:lnTo>
                  <a:cubicBezTo>
                    <a:pt x="15694" y="726481"/>
                    <a:pt x="0" y="710788"/>
                    <a:pt x="0" y="691429"/>
                  </a:cubicBezTo>
                  <a:lnTo>
                    <a:pt x="0" y="35052"/>
                  </a:lnTo>
                  <a:cubicBezTo>
                    <a:pt x="0" y="15694"/>
                    <a:pt x="15694" y="0"/>
                    <a:pt x="350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BF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268654" cy="793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83061" y="2920811"/>
            <a:ext cx="6573546" cy="4007006"/>
            <a:chOff x="0" y="0"/>
            <a:chExt cx="1731304" cy="10553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1304" cy="1055343"/>
            </a:xfrm>
            <a:custGeom>
              <a:avLst/>
              <a:gdLst/>
              <a:ahLst/>
              <a:cxnLst/>
              <a:rect r="r" b="b" t="t" l="l"/>
              <a:pathLst>
                <a:path h="1055343" w="1731304">
                  <a:moveTo>
                    <a:pt x="45932" y="0"/>
                  </a:moveTo>
                  <a:lnTo>
                    <a:pt x="1685373" y="0"/>
                  </a:lnTo>
                  <a:cubicBezTo>
                    <a:pt x="1710740" y="0"/>
                    <a:pt x="1731304" y="20564"/>
                    <a:pt x="1731304" y="45932"/>
                  </a:cubicBezTo>
                  <a:lnTo>
                    <a:pt x="1731304" y="1009411"/>
                  </a:lnTo>
                  <a:cubicBezTo>
                    <a:pt x="1731304" y="1034779"/>
                    <a:pt x="1710740" y="1055343"/>
                    <a:pt x="1685373" y="1055343"/>
                  </a:cubicBezTo>
                  <a:lnTo>
                    <a:pt x="45932" y="1055343"/>
                  </a:lnTo>
                  <a:cubicBezTo>
                    <a:pt x="20564" y="1055343"/>
                    <a:pt x="0" y="1034779"/>
                    <a:pt x="0" y="1009411"/>
                  </a:cubicBezTo>
                  <a:lnTo>
                    <a:pt x="0" y="45932"/>
                  </a:lnTo>
                  <a:cubicBezTo>
                    <a:pt x="0" y="20564"/>
                    <a:pt x="20564" y="0"/>
                    <a:pt x="4593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BF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731304" cy="1122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779042" y="3740752"/>
            <a:ext cx="3962752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Banco de Horas Flexível Para o grupo com filhos :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evitar que imprevistos familiares virem faltas injustificadas.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3485" y="6299048"/>
            <a:ext cx="1623115" cy="679758"/>
            <a:chOff x="0" y="0"/>
            <a:chExt cx="526547" cy="220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6547" cy="220517"/>
            </a:xfrm>
            <a:custGeom>
              <a:avLst/>
              <a:gdLst/>
              <a:ahLst/>
              <a:cxnLst/>
              <a:rect r="r" b="b" t="t" l="l"/>
              <a:pathLst>
                <a:path h="220517" w="526547">
                  <a:moveTo>
                    <a:pt x="110259" y="0"/>
                  </a:moveTo>
                  <a:lnTo>
                    <a:pt x="416289" y="0"/>
                  </a:lnTo>
                  <a:cubicBezTo>
                    <a:pt x="445531" y="0"/>
                    <a:pt x="473576" y="11616"/>
                    <a:pt x="494253" y="32294"/>
                  </a:cubicBezTo>
                  <a:cubicBezTo>
                    <a:pt x="514931" y="52971"/>
                    <a:pt x="526547" y="81016"/>
                    <a:pt x="526547" y="110259"/>
                  </a:cubicBezTo>
                  <a:lnTo>
                    <a:pt x="526547" y="110259"/>
                  </a:lnTo>
                  <a:cubicBezTo>
                    <a:pt x="526547" y="139501"/>
                    <a:pt x="514931" y="167546"/>
                    <a:pt x="494253" y="188223"/>
                  </a:cubicBezTo>
                  <a:cubicBezTo>
                    <a:pt x="473576" y="208901"/>
                    <a:pt x="445531" y="220517"/>
                    <a:pt x="416289" y="220517"/>
                  </a:cubicBezTo>
                  <a:lnTo>
                    <a:pt x="110259" y="220517"/>
                  </a:lnTo>
                  <a:cubicBezTo>
                    <a:pt x="81016" y="220517"/>
                    <a:pt x="52971" y="208901"/>
                    <a:pt x="32294" y="188223"/>
                  </a:cubicBezTo>
                  <a:cubicBezTo>
                    <a:pt x="11616" y="167546"/>
                    <a:pt x="0" y="139501"/>
                    <a:pt x="0" y="110259"/>
                  </a:cubicBezTo>
                  <a:lnTo>
                    <a:pt x="0" y="110259"/>
                  </a:lnTo>
                  <a:cubicBezTo>
                    <a:pt x="0" y="81016"/>
                    <a:pt x="11616" y="52971"/>
                    <a:pt x="32294" y="32294"/>
                  </a:cubicBezTo>
                  <a:cubicBezTo>
                    <a:pt x="52971" y="11616"/>
                    <a:pt x="81016" y="0"/>
                    <a:pt x="110259" y="0"/>
                  </a:cubicBezTo>
                  <a:close/>
                </a:path>
              </a:pathLst>
            </a:custGeom>
            <a:solidFill>
              <a:srgbClr val="FFBF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526547" cy="287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68589" y="6475149"/>
            <a:ext cx="692908" cy="327556"/>
          </a:xfrm>
          <a:custGeom>
            <a:avLst/>
            <a:gdLst/>
            <a:ahLst/>
            <a:cxnLst/>
            <a:rect r="r" b="b" t="t" l="l"/>
            <a:pathLst>
              <a:path h="327556" w="692908">
                <a:moveTo>
                  <a:pt x="0" y="0"/>
                </a:moveTo>
                <a:lnTo>
                  <a:pt x="692907" y="0"/>
                </a:lnTo>
                <a:lnTo>
                  <a:pt x="692907" y="327556"/>
                </a:lnTo>
                <a:lnTo>
                  <a:pt x="0" y="327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4567" y="2881733"/>
            <a:ext cx="3220951" cy="3220951"/>
          </a:xfrm>
          <a:custGeom>
            <a:avLst/>
            <a:gdLst/>
            <a:ahLst/>
            <a:cxnLst/>
            <a:rect r="r" b="b" t="t" l="l"/>
            <a:pathLst>
              <a:path h="3220951" w="3220951">
                <a:moveTo>
                  <a:pt x="0" y="0"/>
                </a:moveTo>
                <a:lnTo>
                  <a:pt x="3220951" y="0"/>
                </a:lnTo>
                <a:lnTo>
                  <a:pt x="3220951" y="3220951"/>
                </a:lnTo>
                <a:lnTo>
                  <a:pt x="0" y="3220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3982656" y="3127074"/>
            <a:ext cx="0" cy="2730270"/>
          </a:xfrm>
          <a:prstGeom prst="line">
            <a:avLst/>
          </a:prstGeom>
          <a:ln cap="rnd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04567" y="3108321"/>
            <a:ext cx="0" cy="2730270"/>
          </a:xfrm>
          <a:prstGeom prst="line">
            <a:avLst/>
          </a:prstGeom>
          <a:ln cap="rnd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7227" y="8859212"/>
            <a:ext cx="2412073" cy="399088"/>
          </a:xfrm>
          <a:custGeom>
            <a:avLst/>
            <a:gdLst/>
            <a:ahLst/>
            <a:cxnLst/>
            <a:rect r="r" b="b" t="t" l="l"/>
            <a:pathLst>
              <a:path h="399088" w="2412073">
                <a:moveTo>
                  <a:pt x="0" y="0"/>
                </a:moveTo>
                <a:lnTo>
                  <a:pt x="2412073" y="0"/>
                </a:lnTo>
                <a:lnTo>
                  <a:pt x="2412073" y="399088"/>
                </a:lnTo>
                <a:lnTo>
                  <a:pt x="0" y="39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58800" y="1104900"/>
            <a:ext cx="8869008" cy="11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b="true" sz="806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24213" y="2443793"/>
            <a:ext cx="10272540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4"/>
              </a:lnSpc>
            </a:pPr>
            <a:r>
              <a:rPr lang="en-US" sz="2499" b="true">
                <a:solidFill>
                  <a:srgbClr val="FFFFFF">
                    <a:alpha val="8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inicial (inviável):</a:t>
            </a: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prever o tempo exato de absenteísmo</a:t>
            </a:r>
          </a:p>
          <a:p>
            <a:pPr algn="just" marL="539749" indent="-269875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Aleatoriedade das ocorrências médicas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4213" y="4851402"/>
            <a:ext cx="9792053" cy="400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4"/>
              </a:lnSpc>
            </a:pPr>
            <a:r>
              <a:rPr lang="en-US" sz="2499" b="true">
                <a:solidFill>
                  <a:srgbClr val="FFFFFF">
                    <a:alpha val="8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Novo critério (atingido):</a:t>
            </a: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compreensão clara dos fatores</a:t>
            </a:r>
          </a:p>
          <a:p>
            <a:pPr algn="just" marL="539749" indent="-269875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Ajuda na gestão de pessoas</a:t>
            </a:r>
          </a:p>
          <a:p>
            <a:pPr algn="just">
              <a:lnSpc>
                <a:spcPts val="5374"/>
              </a:lnSpc>
            </a:pPr>
            <a:r>
              <a:rPr lang="en-US" sz="2499" b="true">
                <a:solidFill>
                  <a:srgbClr val="FFFFFF">
                    <a:alpha val="8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Principais vetores do problema:</a:t>
            </a:r>
          </a:p>
          <a:p>
            <a:pPr algn="just" marL="539749" indent="-269875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Intensidade do trabalho</a:t>
            </a:r>
          </a:p>
          <a:p>
            <a:pPr algn="just" marL="539749" indent="-269875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Doenças específicas</a:t>
            </a:r>
          </a:p>
          <a:p>
            <a:pPr algn="just" marL="539749" indent="-269875" lvl="1">
              <a:lnSpc>
                <a:spcPts val="5374"/>
              </a:lnSpc>
              <a:buFont typeface="Arial"/>
              <a:buChar char="•"/>
            </a:pPr>
            <a:r>
              <a:rPr lang="en-US" sz="2499">
                <a:solidFill>
                  <a:srgbClr val="FFFFFF">
                    <a:alpha val="8392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idade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B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65079" y="2731225"/>
            <a:ext cx="7995303" cy="6527075"/>
          </a:xfrm>
          <a:custGeom>
            <a:avLst/>
            <a:gdLst/>
            <a:ahLst/>
            <a:cxnLst/>
            <a:rect r="r" b="b" t="t" l="l"/>
            <a:pathLst>
              <a:path h="6527075" w="7995303">
                <a:moveTo>
                  <a:pt x="0" y="0"/>
                </a:moveTo>
                <a:lnTo>
                  <a:pt x="7995303" y="0"/>
                </a:lnTo>
                <a:lnTo>
                  <a:pt x="7995303" y="6527075"/>
                </a:lnTo>
                <a:lnTo>
                  <a:pt x="0" y="6527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7071" y="3485380"/>
            <a:ext cx="8230784" cy="165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55"/>
              </a:lnSpc>
            </a:pPr>
            <a:r>
              <a:rPr lang="en-US" b="true" sz="11655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OBRIGADO</a:t>
            </a:r>
          </a:p>
        </p:txBody>
      </p:sp>
      <p:sp>
        <p:nvSpPr>
          <p:cNvPr name="AutoShape 7" id="7"/>
          <p:cNvSpPr/>
          <p:nvPr/>
        </p:nvSpPr>
        <p:spPr>
          <a:xfrm>
            <a:off x="1085850" y="3032706"/>
            <a:ext cx="0" cy="4400659"/>
          </a:xfrm>
          <a:prstGeom prst="line">
            <a:avLst/>
          </a:prstGeom>
          <a:ln cap="flat" w="85725">
            <a:solidFill>
              <a:srgbClr val="FFBF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7553472" y="5719763"/>
            <a:ext cx="1001736" cy="1551735"/>
          </a:xfrm>
          <a:custGeom>
            <a:avLst/>
            <a:gdLst/>
            <a:ahLst/>
            <a:cxnLst/>
            <a:rect r="r" b="b" t="t" l="l"/>
            <a:pathLst>
              <a:path h="1551735" w="1001736">
                <a:moveTo>
                  <a:pt x="0" y="0"/>
                </a:moveTo>
                <a:lnTo>
                  <a:pt x="1001736" y="0"/>
                </a:lnTo>
                <a:lnTo>
                  <a:pt x="1001736" y="1551735"/>
                </a:lnTo>
                <a:lnTo>
                  <a:pt x="0" y="1551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3048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858981">
            <a:off x="9106168" y="3237614"/>
            <a:ext cx="16306265" cy="14497752"/>
          </a:xfrm>
          <a:custGeom>
            <a:avLst/>
            <a:gdLst/>
            <a:ahLst/>
            <a:cxnLst/>
            <a:rect r="r" b="b" t="t" l="l"/>
            <a:pathLst>
              <a:path h="14497752" w="16306265">
                <a:moveTo>
                  <a:pt x="0" y="0"/>
                </a:moveTo>
                <a:lnTo>
                  <a:pt x="16306264" y="0"/>
                </a:lnTo>
                <a:lnTo>
                  <a:pt x="16306264" y="14497751"/>
                </a:lnTo>
                <a:lnTo>
                  <a:pt x="0" y="14497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DAG5uqczehU</dc:identifier>
  <dcterms:modified xsi:type="dcterms:W3CDTF">2011-08-01T06:04:30Z</dcterms:modified>
  <cp:revision>1</cp:revision>
  <dc:title>Previsão de Absenteísmo nas empresas</dc:title>
</cp:coreProperties>
</file>